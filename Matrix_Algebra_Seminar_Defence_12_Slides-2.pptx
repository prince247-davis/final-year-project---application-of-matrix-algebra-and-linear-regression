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name is Davis Prince Jackson. This presentation is on the application of matrix algebra in predicting students' examination scores using multiple linear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study is not only about obtaining predictions. The mathematical focus is on how the regression model is represented and solved using matrices, and how stable the resulting computations 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aim exactly. Briefly explain that the objectives connect prediction with the mathematical and numerical properties of the matrix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correspond directly to the objectives. Avoid reading every word if time is short; summarize them as formulation, prediction, influence, conditioning, standardization and stability.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the Student Habits vs Academic Performance dataset from Kaggle. It contains 1,000 records and 16 variables. Missing parental education values were imputed using the mode. Categorical variables were one-hot encoded with drop_first=True. The data were split 80:20, producing an 800 by 19 training design matrix including the intercept.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meaning rather than deriving everything. y is the observed score vector, X is the design matrix, beta is the coefficient vector, and epsilon is the error vector. Minimizing the squared residuals produces the normal equations and the coefficient estimator.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achieved an R-squared of 0.897, meaning approximately 89.7% of the variation in test examination scores is explained by the predictors in the fitted model. The mean five-fold cross-validation R-squared of 0.895 supports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the coefficients are interpreted while holding other predictors constant. Study hours per day has the largest raw numerical coefficient among the continuous predictors. Standardized coefficients were also used for comparing effects across different scales.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condition number indicates sensitivity of a matrix problem to numerical errors. The raw design matrix had a condition number of about 1305.59. After standardization it fell to about 1.71, showing a dramatic improvement in numerical conditioning. Also, the condition number of X transpose X is the square of that of 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checks were performed. First, a small perturbation was introduced to examine prediction stability. The maximum absolute prediction change was about 0.00206, or only 0.00293 percent relative change. Second, direct solution, inverse and pseudoinverse approaches were compared; their differences were around 10 to the power of minus 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bringing the mathematical and predictive sides together. The contribution is not that matrix algebra or sensitivity analysis was invented here; rather, the study integrates these analyses into one workflow for this educational prediction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practical recommendations and future work. Then invite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10607040" cy="2194560"/>
          </a:xfrm>
          <a:prstGeom prst="rect">
            <a:avLst/>
          </a:prstGeom>
          <a:noFill/>
        </p:spPr>
        <p:txBody>
          <a:bodyPr wrap="none">
            <a:spAutoFit/>
          </a:bodyPr>
          <a:lstStyle/>
          <a:p>
            <a:pPr algn="ctr">
              <a:defRPr sz="2900" b="1">
                <a:solidFill>
                  <a:srgbClr val="FFFFFF"/>
                </a:solidFill>
              </a:defRPr>
            </a:pPr>
            <a:r>
              <a:t>APPLICATION OF MATRIX ALGEBRA IN</a:t>
            </a:r>
          </a:p>
          <a:p>
            <a:pPr algn="ctr">
              <a:defRPr sz="3100" b="1">
                <a:solidFill>
                  <a:srgbClr val="FFFFFF"/>
                </a:solidFill>
              </a:defRPr>
            </a:pPr>
            <a:r>
              <a:t>PREDICTING STUDENTS' EXAMINATION SCORES</a:t>
            </a:r>
          </a:p>
          <a:p>
            <a:pPr algn="ctr">
              <a:defRPr sz="2400">
                <a:solidFill>
                  <a:srgbClr val="CDDCEB"/>
                </a:solidFill>
              </a:defRPr>
            </a:pPr>
            <a:r>
              <a:t>USING MULTIPLE LINEAR REGRESSION</a:t>
            </a:r>
          </a:p>
        </p:txBody>
      </p:sp>
      <p:sp>
        <p:nvSpPr>
          <p:cNvPr id="4" name="TextBox 3"/>
          <p:cNvSpPr txBox="1"/>
          <p:nvPr/>
        </p:nvSpPr>
        <p:spPr>
          <a:xfrm>
            <a:off x="1097280" y="3886200"/>
            <a:ext cx="9966960" cy="1645920"/>
          </a:xfrm>
          <a:prstGeom prst="rect">
            <a:avLst/>
          </a:prstGeom>
          <a:noFill/>
        </p:spPr>
        <p:txBody>
          <a:bodyPr wrap="none">
            <a:spAutoFit/>
          </a:bodyPr>
          <a:lstStyle/>
          <a:p>
            <a:pPr algn="ctr">
              <a:spcAft>
                <a:spcPts val="700"/>
              </a:spcAft>
              <a:defRPr sz="1700" b="1">
                <a:solidFill>
                  <a:srgbClr val="FFFFFF"/>
                </a:solidFill>
              </a:defRPr>
            </a:pPr>
            <a:r>
              <a:t>SEMINAR DEFENCE PRESENTATION</a:t>
            </a:r>
          </a:p>
          <a:p>
            <a:pPr algn="ctr">
              <a:spcAft>
                <a:spcPts val="700"/>
              </a:spcAft>
              <a:defRPr sz="1400" b="0">
                <a:solidFill>
                  <a:srgbClr val="FFFFFF"/>
                </a:solidFill>
              </a:defRPr>
            </a:pPr>
            <a:r>
              <a:t>Presented by: Davis Prince Jackson</a:t>
            </a:r>
          </a:p>
          <a:p>
            <a:pPr algn="ctr">
              <a:spcAft>
                <a:spcPts val="700"/>
              </a:spcAft>
              <a:defRPr sz="1400" b="0">
                <a:solidFill>
                  <a:srgbClr val="FFFFFF"/>
                </a:solidFill>
              </a:defRPr>
            </a:pPr>
            <a:r>
              <a:t>B.Sc. Mathematics • University of Cross River State</a:t>
            </a:r>
          </a:p>
          <a:p>
            <a:pPr algn="ctr">
              <a:spcAft>
                <a:spcPts val="700"/>
              </a:spcAft>
              <a:defRPr sz="1400" b="0">
                <a:solidFill>
                  <a:srgbClr val="FFFFFF"/>
                </a:solidFill>
              </a:defRPr>
            </a:pPr>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1. Background of the Study</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10698480" cy="4480560"/>
          </a:xfrm>
          <a:prstGeom prst="rect">
            <a:avLst/>
          </a:prstGeom>
          <a:noFill/>
        </p:spPr>
        <p:txBody>
          <a:bodyPr wrap="square">
            <a:spAutoFit/>
          </a:bodyPr>
          <a:lstStyle/>
          <a:p>
            <a:pPr>
              <a:spcAft>
                <a:spcPts val="1200"/>
              </a:spcAft>
              <a:defRPr sz="2100">
                <a:solidFill>
                  <a:srgbClr val="23272B"/>
                </a:solidFill>
              </a:defRPr>
            </a:pPr>
            <a:r>
              <a:t>• Students' examination performance can be influenced by study habits, attendance, lifestyle and other factors.</a:t>
            </a:r>
          </a:p>
          <a:p>
            <a:pPr>
              <a:spcAft>
                <a:spcPts val="1200"/>
              </a:spcAft>
              <a:defRPr sz="2100">
                <a:solidFill>
                  <a:srgbClr val="23272B"/>
                </a:solidFill>
              </a:defRPr>
            </a:pPr>
            <a:r>
              <a:t>• Educational datasets provide an opportunity to model these relationships mathematically.</a:t>
            </a:r>
          </a:p>
          <a:p>
            <a:pPr>
              <a:spcAft>
                <a:spcPts val="1200"/>
              </a:spcAft>
              <a:defRPr sz="2100">
                <a:solidFill>
                  <a:srgbClr val="23272B"/>
                </a:solidFill>
              </a:defRPr>
            </a:pPr>
            <a:r>
              <a:t>• Multiple Linear Regression can estimate the combined effect of several predictors on examination scores.</a:t>
            </a:r>
          </a:p>
          <a:p>
            <a:pPr>
              <a:spcAft>
                <a:spcPts val="1200"/>
              </a:spcAft>
              <a:defRPr sz="2100">
                <a:solidFill>
                  <a:srgbClr val="23272B"/>
                </a:solidFill>
              </a:defRPr>
            </a:pPr>
            <a:r>
              <a:t>• Matrix algebra provides the mathematical framework for representing and estimating the regression model efficiently.</a:t>
            </a:r>
          </a:p>
          <a:p>
            <a:pPr>
              <a:spcAft>
                <a:spcPts val="1200"/>
              </a:spcAft>
              <a:defRPr sz="2100">
                <a:solidFill>
                  <a:srgbClr val="23272B"/>
                </a:solidFill>
              </a:defRPr>
            </a:pPr>
            <a:r>
              <a:t>• This study goes beyond prediction accuracy by examining numerical stability, sensitivity and perturbation.</a:t>
            </a:r>
          </a:p>
        </p:txBody>
      </p:sp>
      <p:sp>
        <p:nvSpPr>
          <p:cNvPr id="6" name="TextBox 5"/>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2. Problem, Aim and Objectives</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71600"/>
            <a:ext cx="10698480" cy="4480560"/>
          </a:xfrm>
          <a:prstGeom prst="rect">
            <a:avLst/>
          </a:prstGeom>
          <a:noFill/>
        </p:spPr>
        <p:txBody>
          <a:bodyPr wrap="square">
            <a:spAutoFit/>
          </a:bodyPr>
          <a:lstStyle/>
          <a:p>
            <a:pPr>
              <a:spcAft>
                <a:spcPts val="1200"/>
              </a:spcAft>
              <a:defRPr sz="1800">
                <a:solidFill>
                  <a:srgbClr val="23272B"/>
                </a:solidFill>
              </a:defRPr>
            </a:pPr>
            <a:r>
              <a:t>• Problem: academic performance depends on multiple factors, making simple one-variable analysis inadequate.</a:t>
            </a:r>
          </a:p>
          <a:p>
            <a:pPr>
              <a:spcAft>
                <a:spcPts val="1200"/>
              </a:spcAft>
              <a:defRPr sz="1800">
                <a:solidFill>
                  <a:srgbClr val="23272B"/>
                </a:solidFill>
              </a:defRPr>
            </a:pPr>
            <a:r>
              <a:t>• Problem: matrix-based regression computations can be affected by scaling and numerical conditioning.</a:t>
            </a:r>
          </a:p>
          <a:p>
            <a:pPr>
              <a:spcAft>
                <a:spcPts val="1200"/>
              </a:spcAft>
              <a:defRPr sz="1800">
                <a:solidFill>
                  <a:srgbClr val="23272B"/>
                </a:solidFill>
              </a:defRPr>
            </a:pPr>
            <a:r>
              <a:t>• Aim: to apply matrix algebra in predicting students' examination scores using Multiple Linear Regression.</a:t>
            </a:r>
          </a:p>
          <a:p>
            <a:pPr>
              <a:spcAft>
                <a:spcPts val="1200"/>
              </a:spcAft>
              <a:defRPr sz="1800">
                <a:solidFill>
                  <a:srgbClr val="23272B"/>
                </a:solidFill>
              </a:defRPr>
            </a:pPr>
            <a:r>
              <a:t>• Objectives: formulate the model in matrix form; estimate coefficients; evaluate predictions; examine eigenvalues and condition numbers; analyse sensitivity and perturbation; verify numerical solutions.</a:t>
            </a:r>
          </a:p>
        </p:txBody>
      </p:sp>
      <p:sp>
        <p:nvSpPr>
          <p:cNvPr id="6" name="TextBox 5"/>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3. Research Questions</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71600"/>
            <a:ext cx="10698480" cy="4480560"/>
          </a:xfrm>
          <a:prstGeom prst="rect">
            <a:avLst/>
          </a:prstGeom>
          <a:noFill/>
        </p:spPr>
        <p:txBody>
          <a:bodyPr wrap="square">
            <a:spAutoFit/>
          </a:bodyPr>
          <a:lstStyle/>
          <a:p>
            <a:pPr>
              <a:spcAft>
                <a:spcPts val="1200"/>
              </a:spcAft>
              <a:defRPr sz="1700">
                <a:solidFill>
                  <a:srgbClr val="23272B"/>
                </a:solidFill>
              </a:defRPr>
            </a:pPr>
            <a:r>
              <a:t>• How can Multiple Linear Regression be formulated using matrix algebra?</a:t>
            </a:r>
          </a:p>
          <a:p>
            <a:pPr>
              <a:spcAft>
                <a:spcPts val="1200"/>
              </a:spcAft>
              <a:defRPr sz="1700">
                <a:solidFill>
                  <a:srgbClr val="23272B"/>
                </a:solidFill>
              </a:defRPr>
            </a:pPr>
            <a:r>
              <a:t>• How accurately can students' examination scores be predicted using the fitted model?</a:t>
            </a:r>
          </a:p>
          <a:p>
            <a:pPr>
              <a:spcAft>
                <a:spcPts val="1200"/>
              </a:spcAft>
              <a:defRPr sz="1700">
                <a:solidFill>
                  <a:srgbClr val="23272B"/>
                </a:solidFill>
              </a:defRPr>
            </a:pPr>
            <a:r>
              <a:t>• Which predictor variables have the greatest influence on the predictions?</a:t>
            </a:r>
          </a:p>
          <a:p>
            <a:pPr>
              <a:spcAft>
                <a:spcPts val="1200"/>
              </a:spcAft>
              <a:defRPr sz="1700">
                <a:solidFill>
                  <a:srgbClr val="23272B"/>
                </a:solidFill>
              </a:defRPr>
            </a:pPr>
            <a:r>
              <a:t>• How do eigenvalues and condition numbers describe the numerical conditioning of the design matrix?</a:t>
            </a:r>
          </a:p>
          <a:p>
            <a:pPr>
              <a:spcAft>
                <a:spcPts val="1200"/>
              </a:spcAft>
              <a:defRPr sz="1700">
                <a:solidFill>
                  <a:srgbClr val="23272B"/>
                </a:solidFill>
              </a:defRPr>
            </a:pPr>
            <a:r>
              <a:t>• How does standardization affect the conditioning of the matrix?</a:t>
            </a:r>
          </a:p>
          <a:p>
            <a:pPr>
              <a:spcAft>
                <a:spcPts val="1200"/>
              </a:spcAft>
              <a:defRPr sz="1700">
                <a:solidFill>
                  <a:srgbClr val="23272B"/>
                </a:solidFill>
              </a:defRPr>
            </a:pPr>
            <a:r>
              <a:t>• How stable are the coefficients and predictions under small perturbations and alternative solution methods?</a:t>
            </a:r>
          </a:p>
        </p:txBody>
      </p:sp>
      <p:sp>
        <p:nvSpPr>
          <p:cNvPr id="6" name="TextBox 5"/>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4. Data and Methodology</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Kaggle Dataset</a:t>
            </a:r>
          </a:p>
        </p:txBody>
      </p:sp>
      <p:sp>
        <p:nvSpPr>
          <p:cNvPr id="6" name="Rounded Rectangle 5"/>
          <p:cNvSpPr/>
          <p:nvPr/>
        </p:nvSpPr>
        <p:spPr>
          <a:xfrm>
            <a:off x="1847088"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Preprocessing</a:t>
            </a:r>
          </a:p>
        </p:txBody>
      </p:sp>
      <p:sp>
        <p:nvSpPr>
          <p:cNvPr id="7" name="Rounded Rectangle 6"/>
          <p:cNvSpPr/>
          <p:nvPr/>
        </p:nvSpPr>
        <p:spPr>
          <a:xfrm>
            <a:off x="3282696"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Encoding</a:t>
            </a:r>
          </a:p>
        </p:txBody>
      </p:sp>
      <p:sp>
        <p:nvSpPr>
          <p:cNvPr id="8" name="Rounded Rectangle 7"/>
          <p:cNvSpPr/>
          <p:nvPr/>
        </p:nvSpPr>
        <p:spPr>
          <a:xfrm>
            <a:off x="4718303"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80:20 Split</a:t>
            </a:r>
          </a:p>
        </p:txBody>
      </p:sp>
      <p:sp>
        <p:nvSpPr>
          <p:cNvPr id="9" name="Rounded Rectangle 8"/>
          <p:cNvSpPr/>
          <p:nvPr/>
        </p:nvSpPr>
        <p:spPr>
          <a:xfrm>
            <a:off x="6153912"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Design Matrix</a:t>
            </a:r>
          </a:p>
        </p:txBody>
      </p:sp>
      <p:sp>
        <p:nvSpPr>
          <p:cNvPr id="10" name="Rounded Rectangle 9"/>
          <p:cNvSpPr/>
          <p:nvPr/>
        </p:nvSpPr>
        <p:spPr>
          <a:xfrm>
            <a:off x="7589519"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OLS Regression</a:t>
            </a:r>
          </a:p>
        </p:txBody>
      </p:sp>
      <p:sp>
        <p:nvSpPr>
          <p:cNvPr id="11" name="Rounded Rectangle 10"/>
          <p:cNvSpPr/>
          <p:nvPr/>
        </p:nvSpPr>
        <p:spPr>
          <a:xfrm>
            <a:off x="9025127"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Evaluation</a:t>
            </a:r>
          </a:p>
        </p:txBody>
      </p:sp>
      <p:sp>
        <p:nvSpPr>
          <p:cNvPr id="12" name="Rounded Rectangle 11"/>
          <p:cNvSpPr/>
          <p:nvPr/>
        </p:nvSpPr>
        <p:spPr>
          <a:xfrm>
            <a:off x="10460735" y="2057400"/>
            <a:ext cx="1325880" cy="960120"/>
          </a:xfrm>
          <a:prstGeom prst="roundRect">
            <a:avLst/>
          </a:prstGeom>
          <a:solidFill>
            <a:srgbClr val="F2F6FA"/>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82B49"/>
                </a:solidFill>
              </a:defRPr>
            </a:pPr>
            <a:r>
              <a:t>Stability Analysis</a:t>
            </a:r>
          </a:p>
        </p:txBody>
      </p:sp>
      <p:sp>
        <p:nvSpPr>
          <p:cNvPr id="13" name="Rounded Rectangle 12"/>
          <p:cNvSpPr/>
          <p:nvPr/>
        </p:nvSpPr>
        <p:spPr>
          <a:xfrm>
            <a:off x="822960" y="3886200"/>
            <a:ext cx="2194560" cy="123444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Records</a:t>
            </a:r>
          </a:p>
          <a:p>
            <a:pPr algn="ctr">
              <a:defRPr sz="2500" b="1">
                <a:solidFill>
                  <a:srgbClr val="182B49"/>
                </a:solidFill>
              </a:defRPr>
            </a:pPr>
            <a:r>
              <a:t>1,000</a:t>
            </a:r>
          </a:p>
        </p:txBody>
      </p:sp>
      <p:sp>
        <p:nvSpPr>
          <p:cNvPr id="14" name="Rounded Rectangle 13"/>
          <p:cNvSpPr/>
          <p:nvPr/>
        </p:nvSpPr>
        <p:spPr>
          <a:xfrm>
            <a:off x="3200400" y="3886200"/>
            <a:ext cx="2194560" cy="123444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Original variables</a:t>
            </a:r>
          </a:p>
          <a:p>
            <a:pPr algn="ctr">
              <a:defRPr sz="2500" b="1">
                <a:solidFill>
                  <a:srgbClr val="182B49"/>
                </a:solidFill>
              </a:defRPr>
            </a:pPr>
            <a:r>
              <a:t>16</a:t>
            </a:r>
          </a:p>
        </p:txBody>
      </p:sp>
      <p:sp>
        <p:nvSpPr>
          <p:cNvPr id="15" name="Rounded Rectangle 14"/>
          <p:cNvSpPr/>
          <p:nvPr/>
        </p:nvSpPr>
        <p:spPr>
          <a:xfrm>
            <a:off x="5577840" y="3886200"/>
            <a:ext cx="2194560" cy="123444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Training data</a:t>
            </a:r>
          </a:p>
          <a:p>
            <a:pPr algn="ctr">
              <a:defRPr sz="2500" b="1">
                <a:solidFill>
                  <a:srgbClr val="182B49"/>
                </a:solidFill>
              </a:defRPr>
            </a:pPr>
            <a:r>
              <a:t>800</a:t>
            </a:r>
          </a:p>
        </p:txBody>
      </p:sp>
      <p:sp>
        <p:nvSpPr>
          <p:cNvPr id="16" name="Rounded Rectangle 15"/>
          <p:cNvSpPr/>
          <p:nvPr/>
        </p:nvSpPr>
        <p:spPr>
          <a:xfrm>
            <a:off x="7955279" y="3886200"/>
            <a:ext cx="2468880" cy="123444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Design matrix</a:t>
            </a:r>
          </a:p>
          <a:p>
            <a:pPr algn="ctr">
              <a:defRPr sz="2500" b="1">
                <a:solidFill>
                  <a:srgbClr val="182B49"/>
                </a:solidFill>
              </a:defRPr>
            </a:pPr>
            <a:r>
              <a:t>800 × 19</a:t>
            </a:r>
          </a:p>
        </p:txBody>
      </p:sp>
      <p:sp>
        <p:nvSpPr>
          <p:cNvPr id="17" name="TextBox 16"/>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5. Matrix Formulation of the Model</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325880"/>
            <a:ext cx="10652760" cy="713232"/>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B5B91"/>
                </a:solidFill>
              </a:defRPr>
            </a:pPr>
            <a:r>
              <a:t>Model</a:t>
            </a:r>
          </a:p>
          <a:p>
            <a:pPr>
              <a:defRPr sz="2000" b="1">
                <a:solidFill>
                  <a:srgbClr val="182B49"/>
                </a:solidFill>
              </a:defRPr>
            </a:pPr>
            <a:r>
              <a:t>y = Xβ + ε</a:t>
            </a:r>
          </a:p>
        </p:txBody>
      </p:sp>
      <p:sp>
        <p:nvSpPr>
          <p:cNvPr id="6" name="Rounded Rectangle 5"/>
          <p:cNvSpPr/>
          <p:nvPr/>
        </p:nvSpPr>
        <p:spPr>
          <a:xfrm>
            <a:off x="777240" y="2258568"/>
            <a:ext cx="10652760" cy="713232"/>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B5B91"/>
                </a:solidFill>
              </a:defRPr>
            </a:pPr>
            <a:r>
              <a:t>Least-squares objective</a:t>
            </a:r>
          </a:p>
          <a:p>
            <a:pPr>
              <a:defRPr sz="2000" b="1">
                <a:solidFill>
                  <a:srgbClr val="182B49"/>
                </a:solidFill>
              </a:defRPr>
            </a:pPr>
            <a:r>
              <a:t>S(β) = (y − Xβ)ᵀ(y − Xβ)</a:t>
            </a:r>
          </a:p>
        </p:txBody>
      </p:sp>
      <p:sp>
        <p:nvSpPr>
          <p:cNvPr id="7" name="Rounded Rectangle 6"/>
          <p:cNvSpPr/>
          <p:nvPr/>
        </p:nvSpPr>
        <p:spPr>
          <a:xfrm>
            <a:off x="777240" y="3191256"/>
            <a:ext cx="10652760" cy="713232"/>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B5B91"/>
                </a:solidFill>
              </a:defRPr>
            </a:pPr>
            <a:r>
              <a:t>Normal equation</a:t>
            </a:r>
          </a:p>
          <a:p>
            <a:pPr>
              <a:defRPr sz="2000" b="1">
                <a:solidFill>
                  <a:srgbClr val="182B49"/>
                </a:solidFill>
              </a:defRPr>
            </a:pPr>
            <a:r>
              <a:t>XᵀXβ̂ = Xᵀy</a:t>
            </a:r>
          </a:p>
        </p:txBody>
      </p:sp>
      <p:sp>
        <p:nvSpPr>
          <p:cNvPr id="8" name="Rounded Rectangle 7"/>
          <p:cNvSpPr/>
          <p:nvPr/>
        </p:nvSpPr>
        <p:spPr>
          <a:xfrm>
            <a:off x="777240" y="4123944"/>
            <a:ext cx="10652760" cy="713232"/>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B5B91"/>
                </a:solidFill>
              </a:defRPr>
            </a:pPr>
            <a:r>
              <a:t>Estimator</a:t>
            </a:r>
          </a:p>
          <a:p>
            <a:pPr>
              <a:defRPr sz="2000" b="1">
                <a:solidFill>
                  <a:srgbClr val="182B49"/>
                </a:solidFill>
              </a:defRPr>
            </a:pPr>
            <a:r>
              <a:t>β̂ = (XᵀX)⁻¹Xᵀy</a:t>
            </a:r>
          </a:p>
        </p:txBody>
      </p:sp>
      <p:sp>
        <p:nvSpPr>
          <p:cNvPr id="9" name="Rounded Rectangle 8"/>
          <p:cNvSpPr/>
          <p:nvPr/>
        </p:nvSpPr>
        <p:spPr>
          <a:xfrm>
            <a:off x="777240" y="5056632"/>
            <a:ext cx="10652760" cy="713232"/>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B5B91"/>
                </a:solidFill>
              </a:defRPr>
            </a:pPr>
            <a:r>
              <a:t>Prediction</a:t>
            </a:r>
          </a:p>
          <a:p>
            <a:pPr>
              <a:defRPr sz="2000" b="1">
                <a:solidFill>
                  <a:srgbClr val="182B49"/>
                </a:solidFill>
              </a:defRPr>
            </a:pPr>
            <a:r>
              <a:t>ŷ = Xβ̂</a:t>
            </a:r>
          </a:p>
        </p:txBody>
      </p:sp>
      <p:sp>
        <p:nvSpPr>
          <p:cNvPr id="10" name="TextBox 9"/>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6. Model Performance</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08760"/>
            <a:ext cx="242316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MAE</a:t>
            </a:r>
          </a:p>
          <a:p>
            <a:pPr algn="ctr">
              <a:defRPr sz="2500" b="1">
                <a:solidFill>
                  <a:srgbClr val="182B49"/>
                </a:solidFill>
              </a:defRPr>
            </a:pPr>
            <a:r>
              <a:t>4.19</a:t>
            </a:r>
          </a:p>
          <a:p>
            <a:pPr algn="ctr">
              <a:defRPr sz="900">
                <a:solidFill>
                  <a:srgbClr val="697078"/>
                </a:solidFill>
              </a:defRPr>
            </a:pPr>
            <a:r>
              <a:t>average absolute error</a:t>
            </a:r>
          </a:p>
        </p:txBody>
      </p:sp>
      <p:sp>
        <p:nvSpPr>
          <p:cNvPr id="6" name="Rounded Rectangle 5"/>
          <p:cNvSpPr/>
          <p:nvPr/>
        </p:nvSpPr>
        <p:spPr>
          <a:xfrm>
            <a:off x="3337560" y="1508760"/>
            <a:ext cx="242316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MSE</a:t>
            </a:r>
          </a:p>
          <a:p>
            <a:pPr algn="ctr">
              <a:defRPr sz="2500" b="1">
                <a:solidFill>
                  <a:srgbClr val="182B49"/>
                </a:solidFill>
              </a:defRPr>
            </a:pPr>
            <a:r>
              <a:t>26.53</a:t>
            </a:r>
          </a:p>
          <a:p>
            <a:pPr algn="ctr">
              <a:defRPr sz="900">
                <a:solidFill>
                  <a:srgbClr val="697078"/>
                </a:solidFill>
              </a:defRPr>
            </a:pPr>
            <a:r>
              <a:t>squared error</a:t>
            </a:r>
          </a:p>
        </p:txBody>
      </p:sp>
      <p:sp>
        <p:nvSpPr>
          <p:cNvPr id="7" name="Rounded Rectangle 6"/>
          <p:cNvSpPr/>
          <p:nvPr/>
        </p:nvSpPr>
        <p:spPr>
          <a:xfrm>
            <a:off x="5989320" y="1508760"/>
            <a:ext cx="242316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RMSE</a:t>
            </a:r>
          </a:p>
          <a:p>
            <a:pPr algn="ctr">
              <a:defRPr sz="2500" b="1">
                <a:solidFill>
                  <a:srgbClr val="182B49"/>
                </a:solidFill>
              </a:defRPr>
            </a:pPr>
            <a:r>
              <a:t>5.15</a:t>
            </a:r>
          </a:p>
          <a:p>
            <a:pPr algn="ctr">
              <a:defRPr sz="900">
                <a:solidFill>
                  <a:srgbClr val="697078"/>
                </a:solidFill>
              </a:defRPr>
            </a:pPr>
            <a:r>
              <a:t>typical error scale</a:t>
            </a:r>
          </a:p>
        </p:txBody>
      </p:sp>
      <p:sp>
        <p:nvSpPr>
          <p:cNvPr id="8" name="Rounded Rectangle 7"/>
          <p:cNvSpPr/>
          <p:nvPr/>
        </p:nvSpPr>
        <p:spPr>
          <a:xfrm>
            <a:off x="8641080" y="1508760"/>
            <a:ext cx="242316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R²</a:t>
            </a:r>
          </a:p>
          <a:p>
            <a:pPr algn="ctr">
              <a:defRPr sz="2500" b="1">
                <a:solidFill>
                  <a:srgbClr val="182B49"/>
                </a:solidFill>
              </a:defRPr>
            </a:pPr>
            <a:r>
              <a:t>0.897</a:t>
            </a:r>
          </a:p>
          <a:p>
            <a:pPr algn="ctr">
              <a:defRPr sz="900">
                <a:solidFill>
                  <a:srgbClr val="697078"/>
                </a:solidFill>
              </a:defRPr>
            </a:pPr>
            <a:r>
              <a:t>89.7% explained</a:t>
            </a:r>
          </a:p>
        </p:txBody>
      </p:sp>
      <p:sp>
        <p:nvSpPr>
          <p:cNvPr id="9" name="Rounded Rectangle 8"/>
          <p:cNvSpPr/>
          <p:nvPr/>
        </p:nvSpPr>
        <p:spPr>
          <a:xfrm>
            <a:off x="1828800" y="3657600"/>
            <a:ext cx="8503920" cy="132588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B5B91"/>
                </a:solidFill>
              </a:defRPr>
            </a:pPr>
            <a:r>
              <a:t>Five-Fold Cross-Validation</a:t>
            </a:r>
          </a:p>
          <a:p>
            <a:pPr algn="ctr">
              <a:defRPr sz="2000" b="1">
                <a:solidFill>
                  <a:srgbClr val="182B49"/>
                </a:solidFill>
              </a:defRPr>
            </a:pPr>
            <a:r>
              <a:t>Mean R² = 0.895    |    Standard deviation = 0.017</a:t>
            </a:r>
          </a:p>
          <a:p>
            <a:pPr algn="ctr">
              <a:defRPr sz="1300">
                <a:solidFill>
                  <a:srgbClr val="23272B"/>
                </a:solidFill>
              </a:defRPr>
            </a:pPr>
            <a:r>
              <a:t>The model showed strong and consistent predictive performance.</a:t>
            </a:r>
          </a:p>
        </p:txBody>
      </p:sp>
      <p:sp>
        <p:nvSpPr>
          <p:cNvPr id="10" name="TextBox 9"/>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7. Sensitivity and Variable Effects</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280160"/>
            <a:ext cx="10789920" cy="53035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53312"/>
            <a:ext cx="3657600" cy="365760"/>
          </a:xfrm>
          <a:prstGeom prst="rect">
            <a:avLst/>
          </a:prstGeom>
          <a:noFill/>
        </p:spPr>
        <p:txBody>
          <a:bodyPr wrap="none">
            <a:spAutoFit/>
          </a:bodyPr>
          <a:lstStyle/>
          <a:p>
            <a:pPr>
              <a:defRPr sz="1400" b="1">
                <a:solidFill>
                  <a:srgbClr val="23272B"/>
                </a:solidFill>
              </a:defRPr>
            </a:pPr>
            <a:r>
              <a:t>Study hours/day</a:t>
            </a:r>
          </a:p>
        </p:txBody>
      </p:sp>
      <p:sp>
        <p:nvSpPr>
          <p:cNvPr id="7" name="TextBox 6"/>
          <p:cNvSpPr txBox="1"/>
          <p:nvPr/>
        </p:nvSpPr>
        <p:spPr>
          <a:xfrm>
            <a:off x="4572000" y="1353312"/>
            <a:ext cx="1645920" cy="365760"/>
          </a:xfrm>
          <a:prstGeom prst="rect">
            <a:avLst/>
          </a:prstGeom>
          <a:noFill/>
        </p:spPr>
        <p:txBody>
          <a:bodyPr wrap="none">
            <a:spAutoFit/>
          </a:bodyPr>
          <a:lstStyle/>
          <a:p>
            <a:pPr algn="ctr">
              <a:defRPr sz="1500" b="1">
                <a:solidFill>
                  <a:srgbClr val="182B49"/>
                </a:solidFill>
              </a:defRPr>
            </a:pPr>
            <a:r>
              <a:t>9.532</a:t>
            </a:r>
          </a:p>
        </p:txBody>
      </p:sp>
      <p:sp>
        <p:nvSpPr>
          <p:cNvPr id="8" name="TextBox 7"/>
          <p:cNvSpPr txBox="1"/>
          <p:nvPr/>
        </p:nvSpPr>
        <p:spPr>
          <a:xfrm>
            <a:off x="6217920" y="1353312"/>
            <a:ext cx="4754880" cy="365760"/>
          </a:xfrm>
          <a:prstGeom prst="rect">
            <a:avLst/>
          </a:prstGeom>
          <a:noFill/>
        </p:spPr>
        <p:txBody>
          <a:bodyPr wrap="none">
            <a:spAutoFit/>
          </a:bodyPr>
          <a:lstStyle/>
          <a:p>
            <a:pPr>
              <a:defRPr sz="1200">
                <a:solidFill>
                  <a:srgbClr val="697078"/>
                </a:solidFill>
              </a:defRPr>
            </a:pPr>
            <a:r>
              <a:t>Strongest positive numerical effect</a:t>
            </a:r>
          </a:p>
        </p:txBody>
      </p:sp>
      <p:sp>
        <p:nvSpPr>
          <p:cNvPr id="9" name="TextBox 8"/>
          <p:cNvSpPr txBox="1"/>
          <p:nvPr/>
        </p:nvSpPr>
        <p:spPr>
          <a:xfrm>
            <a:off x="868680" y="1984248"/>
            <a:ext cx="3657600" cy="365760"/>
          </a:xfrm>
          <a:prstGeom prst="rect">
            <a:avLst/>
          </a:prstGeom>
          <a:noFill/>
        </p:spPr>
        <p:txBody>
          <a:bodyPr wrap="none">
            <a:spAutoFit/>
          </a:bodyPr>
          <a:lstStyle/>
          <a:p>
            <a:pPr>
              <a:defRPr sz="1400" b="1">
                <a:solidFill>
                  <a:srgbClr val="23272B"/>
                </a:solidFill>
              </a:defRPr>
            </a:pPr>
            <a:r>
              <a:t>Mental health rating</a:t>
            </a:r>
          </a:p>
        </p:txBody>
      </p:sp>
      <p:sp>
        <p:nvSpPr>
          <p:cNvPr id="10" name="TextBox 9"/>
          <p:cNvSpPr txBox="1"/>
          <p:nvPr/>
        </p:nvSpPr>
        <p:spPr>
          <a:xfrm>
            <a:off x="4572000" y="1984248"/>
            <a:ext cx="1645920" cy="365760"/>
          </a:xfrm>
          <a:prstGeom prst="rect">
            <a:avLst/>
          </a:prstGeom>
          <a:noFill/>
        </p:spPr>
        <p:txBody>
          <a:bodyPr wrap="none">
            <a:spAutoFit/>
          </a:bodyPr>
          <a:lstStyle/>
          <a:p>
            <a:pPr algn="ctr">
              <a:defRPr sz="1500" b="1">
                <a:solidFill>
                  <a:srgbClr val="182B49"/>
                </a:solidFill>
              </a:defRPr>
            </a:pPr>
            <a:r>
              <a:t>1.953</a:t>
            </a:r>
          </a:p>
        </p:txBody>
      </p:sp>
      <p:sp>
        <p:nvSpPr>
          <p:cNvPr id="11" name="TextBox 10"/>
          <p:cNvSpPr txBox="1"/>
          <p:nvPr/>
        </p:nvSpPr>
        <p:spPr>
          <a:xfrm>
            <a:off x="6217920" y="1984248"/>
            <a:ext cx="4754880" cy="365760"/>
          </a:xfrm>
          <a:prstGeom prst="rect">
            <a:avLst/>
          </a:prstGeom>
          <a:noFill/>
        </p:spPr>
        <p:txBody>
          <a:bodyPr wrap="none">
            <a:spAutoFit/>
          </a:bodyPr>
          <a:lstStyle/>
          <a:p>
            <a:pPr>
              <a:defRPr sz="1200">
                <a:solidFill>
                  <a:srgbClr val="697078"/>
                </a:solidFill>
              </a:defRPr>
            </a:pPr>
            <a:r>
              <a:t>Positive effect</a:t>
            </a:r>
          </a:p>
        </p:txBody>
      </p:sp>
      <p:sp>
        <p:nvSpPr>
          <p:cNvPr id="12" name="Rectangle 11"/>
          <p:cNvSpPr/>
          <p:nvPr/>
        </p:nvSpPr>
        <p:spPr>
          <a:xfrm>
            <a:off x="685800" y="2542032"/>
            <a:ext cx="10789920" cy="53035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15184"/>
            <a:ext cx="3657600" cy="365760"/>
          </a:xfrm>
          <a:prstGeom prst="rect">
            <a:avLst/>
          </a:prstGeom>
          <a:noFill/>
        </p:spPr>
        <p:txBody>
          <a:bodyPr wrap="none">
            <a:spAutoFit/>
          </a:bodyPr>
          <a:lstStyle/>
          <a:p>
            <a:pPr>
              <a:defRPr sz="1400" b="1">
                <a:solidFill>
                  <a:srgbClr val="23272B"/>
                </a:solidFill>
              </a:defRPr>
            </a:pPr>
            <a:r>
              <a:t>Social media hours</a:t>
            </a:r>
          </a:p>
        </p:txBody>
      </p:sp>
      <p:sp>
        <p:nvSpPr>
          <p:cNvPr id="14" name="TextBox 13"/>
          <p:cNvSpPr txBox="1"/>
          <p:nvPr/>
        </p:nvSpPr>
        <p:spPr>
          <a:xfrm>
            <a:off x="4572000" y="2615184"/>
            <a:ext cx="1645920" cy="365760"/>
          </a:xfrm>
          <a:prstGeom prst="rect">
            <a:avLst/>
          </a:prstGeom>
          <a:noFill/>
        </p:spPr>
        <p:txBody>
          <a:bodyPr wrap="none">
            <a:spAutoFit/>
          </a:bodyPr>
          <a:lstStyle/>
          <a:p>
            <a:pPr algn="ctr">
              <a:defRPr sz="1500" b="1">
                <a:solidFill>
                  <a:srgbClr val="182B49"/>
                </a:solidFill>
              </a:defRPr>
            </a:pPr>
            <a:r>
              <a:t>−2.682</a:t>
            </a:r>
          </a:p>
        </p:txBody>
      </p:sp>
      <p:sp>
        <p:nvSpPr>
          <p:cNvPr id="15" name="TextBox 14"/>
          <p:cNvSpPr txBox="1"/>
          <p:nvPr/>
        </p:nvSpPr>
        <p:spPr>
          <a:xfrm>
            <a:off x="6217920" y="2615184"/>
            <a:ext cx="4754880" cy="365760"/>
          </a:xfrm>
          <a:prstGeom prst="rect">
            <a:avLst/>
          </a:prstGeom>
          <a:noFill/>
        </p:spPr>
        <p:txBody>
          <a:bodyPr wrap="none">
            <a:spAutoFit/>
          </a:bodyPr>
          <a:lstStyle/>
          <a:p>
            <a:pPr>
              <a:defRPr sz="1200">
                <a:solidFill>
                  <a:srgbClr val="697078"/>
                </a:solidFill>
              </a:defRPr>
            </a:pPr>
            <a:r>
              <a:t>Negative effect</a:t>
            </a:r>
          </a:p>
        </p:txBody>
      </p:sp>
      <p:sp>
        <p:nvSpPr>
          <p:cNvPr id="16" name="TextBox 15"/>
          <p:cNvSpPr txBox="1"/>
          <p:nvPr/>
        </p:nvSpPr>
        <p:spPr>
          <a:xfrm>
            <a:off x="868680" y="3246120"/>
            <a:ext cx="3657600" cy="365760"/>
          </a:xfrm>
          <a:prstGeom prst="rect">
            <a:avLst/>
          </a:prstGeom>
          <a:noFill/>
        </p:spPr>
        <p:txBody>
          <a:bodyPr wrap="none">
            <a:spAutoFit/>
          </a:bodyPr>
          <a:lstStyle/>
          <a:p>
            <a:pPr>
              <a:defRPr sz="1400" b="1">
                <a:solidFill>
                  <a:srgbClr val="23272B"/>
                </a:solidFill>
              </a:defRPr>
            </a:pPr>
            <a:r>
              <a:t>Exercise frequency</a:t>
            </a:r>
          </a:p>
        </p:txBody>
      </p:sp>
      <p:sp>
        <p:nvSpPr>
          <p:cNvPr id="17" name="TextBox 16"/>
          <p:cNvSpPr txBox="1"/>
          <p:nvPr/>
        </p:nvSpPr>
        <p:spPr>
          <a:xfrm>
            <a:off x="4572000" y="3246120"/>
            <a:ext cx="1645920" cy="365760"/>
          </a:xfrm>
          <a:prstGeom prst="rect">
            <a:avLst/>
          </a:prstGeom>
          <a:noFill/>
        </p:spPr>
        <p:txBody>
          <a:bodyPr wrap="none">
            <a:spAutoFit/>
          </a:bodyPr>
          <a:lstStyle/>
          <a:p>
            <a:pPr algn="ctr">
              <a:defRPr sz="1500" b="1">
                <a:solidFill>
                  <a:srgbClr val="182B49"/>
                </a:solidFill>
              </a:defRPr>
            </a:pPr>
            <a:r>
              <a:t>1.320</a:t>
            </a:r>
          </a:p>
        </p:txBody>
      </p:sp>
      <p:sp>
        <p:nvSpPr>
          <p:cNvPr id="18" name="TextBox 17"/>
          <p:cNvSpPr txBox="1"/>
          <p:nvPr/>
        </p:nvSpPr>
        <p:spPr>
          <a:xfrm>
            <a:off x="6217920" y="3246120"/>
            <a:ext cx="4754880" cy="365760"/>
          </a:xfrm>
          <a:prstGeom prst="rect">
            <a:avLst/>
          </a:prstGeom>
          <a:noFill/>
        </p:spPr>
        <p:txBody>
          <a:bodyPr wrap="none">
            <a:spAutoFit/>
          </a:bodyPr>
          <a:lstStyle/>
          <a:p>
            <a:pPr>
              <a:defRPr sz="1200">
                <a:solidFill>
                  <a:srgbClr val="697078"/>
                </a:solidFill>
              </a:defRPr>
            </a:pPr>
            <a:r>
              <a:t>Positive effect</a:t>
            </a:r>
          </a:p>
        </p:txBody>
      </p:sp>
      <p:sp>
        <p:nvSpPr>
          <p:cNvPr id="19" name="Rectangle 18"/>
          <p:cNvSpPr/>
          <p:nvPr/>
        </p:nvSpPr>
        <p:spPr>
          <a:xfrm>
            <a:off x="685800" y="3803904"/>
            <a:ext cx="10789920" cy="53035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77056"/>
            <a:ext cx="3657600" cy="365760"/>
          </a:xfrm>
          <a:prstGeom prst="rect">
            <a:avLst/>
          </a:prstGeom>
          <a:noFill/>
        </p:spPr>
        <p:txBody>
          <a:bodyPr wrap="none">
            <a:spAutoFit/>
          </a:bodyPr>
          <a:lstStyle/>
          <a:p>
            <a:pPr>
              <a:defRPr sz="1400" b="1">
                <a:solidFill>
                  <a:srgbClr val="23272B"/>
                </a:solidFill>
              </a:defRPr>
            </a:pPr>
            <a:r>
              <a:t>Netflix hours</a:t>
            </a:r>
          </a:p>
        </p:txBody>
      </p:sp>
      <p:sp>
        <p:nvSpPr>
          <p:cNvPr id="21" name="TextBox 20"/>
          <p:cNvSpPr txBox="1"/>
          <p:nvPr/>
        </p:nvSpPr>
        <p:spPr>
          <a:xfrm>
            <a:off x="4572000" y="3877056"/>
            <a:ext cx="1645920" cy="365760"/>
          </a:xfrm>
          <a:prstGeom prst="rect">
            <a:avLst/>
          </a:prstGeom>
          <a:noFill/>
        </p:spPr>
        <p:txBody>
          <a:bodyPr wrap="none">
            <a:spAutoFit/>
          </a:bodyPr>
          <a:lstStyle/>
          <a:p>
            <a:pPr algn="ctr">
              <a:defRPr sz="1500" b="1">
                <a:solidFill>
                  <a:srgbClr val="182B49"/>
                </a:solidFill>
              </a:defRPr>
            </a:pPr>
            <a:r>
              <a:t>−2.319</a:t>
            </a:r>
          </a:p>
        </p:txBody>
      </p:sp>
      <p:sp>
        <p:nvSpPr>
          <p:cNvPr id="22" name="TextBox 21"/>
          <p:cNvSpPr txBox="1"/>
          <p:nvPr/>
        </p:nvSpPr>
        <p:spPr>
          <a:xfrm>
            <a:off x="6217920" y="3877056"/>
            <a:ext cx="4754880" cy="365760"/>
          </a:xfrm>
          <a:prstGeom prst="rect">
            <a:avLst/>
          </a:prstGeom>
          <a:noFill/>
        </p:spPr>
        <p:txBody>
          <a:bodyPr wrap="none">
            <a:spAutoFit/>
          </a:bodyPr>
          <a:lstStyle/>
          <a:p>
            <a:pPr>
              <a:defRPr sz="1200">
                <a:solidFill>
                  <a:srgbClr val="697078"/>
                </a:solidFill>
              </a:defRPr>
            </a:pPr>
            <a:r>
              <a:t>Negative effect</a:t>
            </a:r>
          </a:p>
        </p:txBody>
      </p:sp>
      <p:sp>
        <p:nvSpPr>
          <p:cNvPr id="23" name="TextBox 22"/>
          <p:cNvSpPr txBox="1"/>
          <p:nvPr/>
        </p:nvSpPr>
        <p:spPr>
          <a:xfrm>
            <a:off x="868680" y="4507992"/>
            <a:ext cx="3657600" cy="365760"/>
          </a:xfrm>
          <a:prstGeom prst="rect">
            <a:avLst/>
          </a:prstGeom>
          <a:noFill/>
        </p:spPr>
        <p:txBody>
          <a:bodyPr wrap="none">
            <a:spAutoFit/>
          </a:bodyPr>
          <a:lstStyle/>
          <a:p>
            <a:pPr>
              <a:defRPr sz="1400" b="1">
                <a:solidFill>
                  <a:srgbClr val="23272B"/>
                </a:solidFill>
              </a:defRPr>
            </a:pPr>
            <a:r>
              <a:t>Sleep hours</a:t>
            </a:r>
          </a:p>
        </p:txBody>
      </p:sp>
      <p:sp>
        <p:nvSpPr>
          <p:cNvPr id="24" name="TextBox 23"/>
          <p:cNvSpPr txBox="1"/>
          <p:nvPr/>
        </p:nvSpPr>
        <p:spPr>
          <a:xfrm>
            <a:off x="4572000" y="4507992"/>
            <a:ext cx="1645920" cy="365760"/>
          </a:xfrm>
          <a:prstGeom prst="rect">
            <a:avLst/>
          </a:prstGeom>
          <a:noFill/>
        </p:spPr>
        <p:txBody>
          <a:bodyPr wrap="none">
            <a:spAutoFit/>
          </a:bodyPr>
          <a:lstStyle/>
          <a:p>
            <a:pPr algn="ctr">
              <a:defRPr sz="1500" b="1">
                <a:solidFill>
                  <a:srgbClr val="182B49"/>
                </a:solidFill>
              </a:defRPr>
            </a:pPr>
            <a:r>
              <a:t>1.977</a:t>
            </a:r>
          </a:p>
        </p:txBody>
      </p:sp>
      <p:sp>
        <p:nvSpPr>
          <p:cNvPr id="25" name="TextBox 24"/>
          <p:cNvSpPr txBox="1"/>
          <p:nvPr/>
        </p:nvSpPr>
        <p:spPr>
          <a:xfrm>
            <a:off x="6217920" y="4507992"/>
            <a:ext cx="4754880" cy="365760"/>
          </a:xfrm>
          <a:prstGeom prst="rect">
            <a:avLst/>
          </a:prstGeom>
          <a:noFill/>
        </p:spPr>
        <p:txBody>
          <a:bodyPr wrap="none">
            <a:spAutoFit/>
          </a:bodyPr>
          <a:lstStyle/>
          <a:p>
            <a:pPr>
              <a:defRPr sz="1200">
                <a:solidFill>
                  <a:srgbClr val="697078"/>
                </a:solidFill>
              </a:defRPr>
            </a:pPr>
            <a:r>
              <a:t>Positive effect</a:t>
            </a:r>
          </a:p>
        </p:txBody>
      </p:sp>
      <p:sp>
        <p:nvSpPr>
          <p:cNvPr id="26" name="Rectangle 25"/>
          <p:cNvSpPr/>
          <p:nvPr/>
        </p:nvSpPr>
        <p:spPr>
          <a:xfrm>
            <a:off x="685800" y="5065775"/>
            <a:ext cx="10789920" cy="53035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38927"/>
            <a:ext cx="3657600" cy="365760"/>
          </a:xfrm>
          <a:prstGeom prst="rect">
            <a:avLst/>
          </a:prstGeom>
          <a:noFill/>
        </p:spPr>
        <p:txBody>
          <a:bodyPr wrap="none">
            <a:spAutoFit/>
          </a:bodyPr>
          <a:lstStyle/>
          <a:p>
            <a:pPr>
              <a:defRPr sz="1400" b="1">
                <a:solidFill>
                  <a:srgbClr val="23272B"/>
                </a:solidFill>
              </a:defRPr>
            </a:pPr>
            <a:r>
              <a:t>Attendance percentage</a:t>
            </a:r>
          </a:p>
        </p:txBody>
      </p:sp>
      <p:sp>
        <p:nvSpPr>
          <p:cNvPr id="28" name="TextBox 27"/>
          <p:cNvSpPr txBox="1"/>
          <p:nvPr/>
        </p:nvSpPr>
        <p:spPr>
          <a:xfrm>
            <a:off x="4572000" y="5138927"/>
            <a:ext cx="1645920" cy="365760"/>
          </a:xfrm>
          <a:prstGeom prst="rect">
            <a:avLst/>
          </a:prstGeom>
          <a:noFill/>
        </p:spPr>
        <p:txBody>
          <a:bodyPr wrap="none">
            <a:spAutoFit/>
          </a:bodyPr>
          <a:lstStyle/>
          <a:p>
            <a:pPr algn="ctr">
              <a:defRPr sz="1500" b="1">
                <a:solidFill>
                  <a:srgbClr val="182B49"/>
                </a:solidFill>
              </a:defRPr>
            </a:pPr>
            <a:r>
              <a:t>0.143</a:t>
            </a:r>
          </a:p>
        </p:txBody>
      </p:sp>
      <p:sp>
        <p:nvSpPr>
          <p:cNvPr id="29" name="TextBox 28"/>
          <p:cNvSpPr txBox="1"/>
          <p:nvPr/>
        </p:nvSpPr>
        <p:spPr>
          <a:xfrm>
            <a:off x="6217920" y="5138927"/>
            <a:ext cx="4754880" cy="365760"/>
          </a:xfrm>
          <a:prstGeom prst="rect">
            <a:avLst/>
          </a:prstGeom>
          <a:noFill/>
        </p:spPr>
        <p:txBody>
          <a:bodyPr wrap="none">
            <a:spAutoFit/>
          </a:bodyPr>
          <a:lstStyle/>
          <a:p>
            <a:pPr>
              <a:defRPr sz="1200">
                <a:solidFill>
                  <a:srgbClr val="697078"/>
                </a:solidFill>
              </a:defRPr>
            </a:pPr>
            <a:r>
              <a:t>Positive effect</a:t>
            </a:r>
          </a:p>
        </p:txBody>
      </p:sp>
      <p:sp>
        <p:nvSpPr>
          <p:cNvPr id="30" name="TextBox 29"/>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8. Numerical Stability: Eigenvalues and Conditioning</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320040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κ(X) before standardization</a:t>
            </a:r>
          </a:p>
          <a:p>
            <a:pPr algn="ctr">
              <a:defRPr sz="2500" b="1">
                <a:solidFill>
                  <a:srgbClr val="182B49"/>
                </a:solidFill>
              </a:defRPr>
            </a:pPr>
            <a:r>
              <a:t>1305.59</a:t>
            </a:r>
          </a:p>
          <a:p>
            <a:pPr algn="ctr">
              <a:defRPr sz="900">
                <a:solidFill>
                  <a:srgbClr val="697078"/>
                </a:solidFill>
              </a:defRPr>
            </a:pPr>
            <a:r>
              <a:t>raw design matrix</a:t>
            </a:r>
          </a:p>
        </p:txBody>
      </p:sp>
      <p:sp>
        <p:nvSpPr>
          <p:cNvPr id="6" name="Rounded Rectangle 5"/>
          <p:cNvSpPr/>
          <p:nvPr/>
        </p:nvSpPr>
        <p:spPr>
          <a:xfrm>
            <a:off x="4480560" y="1417320"/>
            <a:ext cx="320040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κ(X) after standardization</a:t>
            </a:r>
          </a:p>
          <a:p>
            <a:pPr algn="ctr">
              <a:defRPr sz="2500" b="1">
                <a:solidFill>
                  <a:srgbClr val="182B49"/>
                </a:solidFill>
              </a:defRPr>
            </a:pPr>
            <a:r>
              <a:t>1.71</a:t>
            </a:r>
          </a:p>
          <a:p>
            <a:pPr algn="ctr">
              <a:defRPr sz="900">
                <a:solidFill>
                  <a:srgbClr val="697078"/>
                </a:solidFill>
              </a:defRPr>
            </a:pPr>
            <a:r>
              <a:t>standardized design matrix</a:t>
            </a:r>
          </a:p>
        </p:txBody>
      </p:sp>
      <p:sp>
        <p:nvSpPr>
          <p:cNvPr id="7" name="Rounded Rectangle 6"/>
          <p:cNvSpPr/>
          <p:nvPr/>
        </p:nvSpPr>
        <p:spPr>
          <a:xfrm>
            <a:off x="8229600" y="1417320"/>
            <a:ext cx="2834640" cy="141732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7078"/>
                </a:solidFill>
              </a:defRPr>
            </a:pPr>
            <a:r>
              <a:t>κ(XᵀX)</a:t>
            </a:r>
          </a:p>
          <a:p>
            <a:pPr algn="ctr">
              <a:defRPr sz="2500" b="1">
                <a:solidFill>
                  <a:srgbClr val="182B49"/>
                </a:solidFill>
              </a:defRPr>
            </a:pPr>
            <a:r>
              <a:t>1,704,576.31</a:t>
            </a:r>
          </a:p>
          <a:p>
            <a:pPr algn="ctr">
              <a:defRPr sz="900">
                <a:solidFill>
                  <a:srgbClr val="697078"/>
                </a:solidFill>
              </a:defRPr>
            </a:pPr>
            <a:r>
              <a:t>before standardization</a:t>
            </a:r>
          </a:p>
        </p:txBody>
      </p:sp>
      <p:sp>
        <p:nvSpPr>
          <p:cNvPr id="8" name="Rounded Rectangle 7"/>
          <p:cNvSpPr/>
          <p:nvPr/>
        </p:nvSpPr>
        <p:spPr>
          <a:xfrm>
            <a:off x="1371600" y="3657600"/>
            <a:ext cx="9326880" cy="132588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5B91"/>
                </a:solidFill>
              </a:defRPr>
            </a:pPr>
            <a:r>
              <a:t>Key relationship</a:t>
            </a:r>
          </a:p>
          <a:p>
            <a:pPr algn="ctr">
              <a:defRPr sz="2500" b="1">
                <a:solidFill>
                  <a:srgbClr val="182B49"/>
                </a:solidFill>
              </a:defRPr>
            </a:pPr>
            <a:r>
              <a:t>κ(XᵀX) = κ(X)²</a:t>
            </a:r>
          </a:p>
          <a:p>
            <a:pPr algn="ctr">
              <a:defRPr sz="1400">
                <a:solidFill>
                  <a:srgbClr val="23272B"/>
                </a:solidFill>
              </a:defRPr>
            </a:pPr>
            <a:r>
              <a:t>Standardization greatly improved numerical conditioning.</a:t>
            </a:r>
          </a:p>
        </p:txBody>
      </p:sp>
      <p:sp>
        <p:nvSpPr>
          <p:cNvPr id="9" name="TextBox 8"/>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9. Perturbation and Numerical Verification</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57800" cy="429768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2B5B91"/>
                </a:solidFill>
              </a:defRPr>
            </a:pPr>
            <a:r>
              <a:t>Perturbation Analysis</a:t>
            </a:r>
          </a:p>
          <a:p>
            <a:pPr>
              <a:spcAft>
                <a:spcPts val="1000"/>
              </a:spcAft>
              <a:defRPr sz="1500">
                <a:solidFill>
                  <a:srgbClr val="23272B"/>
                </a:solidFill>
              </a:defRPr>
            </a:pPr>
            <a:r>
              <a:t>• Small input perturbation applied to examine prediction stability.</a:t>
            </a:r>
          </a:p>
          <a:p>
            <a:pPr>
              <a:spcAft>
                <a:spcPts val="1000"/>
              </a:spcAft>
              <a:defRPr sz="1500">
                <a:solidFill>
                  <a:srgbClr val="23272B"/>
                </a:solidFill>
              </a:defRPr>
            </a:pPr>
            <a:r>
              <a:t>• Maximum absolute prediction change: 0.00206</a:t>
            </a:r>
          </a:p>
          <a:p>
            <a:pPr>
              <a:spcAft>
                <a:spcPts val="1000"/>
              </a:spcAft>
              <a:defRPr sz="1500">
                <a:solidFill>
                  <a:srgbClr val="23272B"/>
                </a:solidFill>
              </a:defRPr>
            </a:pPr>
            <a:r>
              <a:t>• Relative prediction change: 0.00293%</a:t>
            </a:r>
          </a:p>
          <a:p>
            <a:pPr>
              <a:spcAft>
                <a:spcPts val="1000"/>
              </a:spcAft>
              <a:defRPr sz="1500">
                <a:solidFill>
                  <a:srgbClr val="23272B"/>
                </a:solidFill>
              </a:defRPr>
            </a:pPr>
            <a:r>
              <a:t>• The very small change indicates stable predictions under the tested perturbation.</a:t>
            </a:r>
          </a:p>
        </p:txBody>
      </p:sp>
      <p:sp>
        <p:nvSpPr>
          <p:cNvPr id="6" name="Rounded Rectangle 5"/>
          <p:cNvSpPr/>
          <p:nvPr/>
        </p:nvSpPr>
        <p:spPr>
          <a:xfrm>
            <a:off x="6217920" y="1417320"/>
            <a:ext cx="5257800" cy="4297680"/>
          </a:xfrm>
          <a:prstGeom prst="roundRect">
            <a:avLst/>
          </a:prstGeom>
          <a:solidFill>
            <a:srgbClr val="F2F6FA"/>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2B5B91"/>
                </a:solidFill>
              </a:defRPr>
            </a:pPr>
            <a:r>
              <a:t>Solver Verification</a:t>
            </a:r>
          </a:p>
          <a:p>
            <a:pPr>
              <a:spcAft>
                <a:spcPts val="700"/>
              </a:spcAft>
              <a:defRPr sz="1500">
                <a:solidFill>
                  <a:srgbClr val="23272B"/>
                </a:solidFill>
              </a:defRPr>
            </a:pPr>
            <a:r>
              <a:t>• Direct matrix solution</a:t>
            </a:r>
          </a:p>
          <a:p>
            <a:pPr>
              <a:spcAft>
                <a:spcPts val="700"/>
              </a:spcAft>
              <a:defRPr sz="1500">
                <a:solidFill>
                  <a:srgbClr val="23272B"/>
                </a:solidFill>
              </a:defRPr>
            </a:pPr>
            <a:r>
              <a:t>• Matrix inversion</a:t>
            </a:r>
          </a:p>
          <a:p>
            <a:pPr>
              <a:spcAft>
                <a:spcPts val="700"/>
              </a:spcAft>
              <a:defRPr sz="1500">
                <a:solidFill>
                  <a:srgbClr val="23272B"/>
                </a:solidFill>
              </a:defRPr>
            </a:pPr>
            <a:r>
              <a:t>• Moore-Penrose pseudoinverse</a:t>
            </a:r>
          </a:p>
          <a:p>
            <a:pPr>
              <a:spcAft>
                <a:spcPts val="700"/>
              </a:spcAft>
              <a:defRPr sz="1500">
                <a:solidFill>
                  <a:srgbClr val="23272B"/>
                </a:solidFill>
              </a:defRPr>
            </a:pPr>
            <a:r>
              <a:t>• Maximum coefficient difference ≈ 10⁻¹²</a:t>
            </a:r>
          </a:p>
          <a:p>
            <a:pPr>
              <a:spcAft>
                <a:spcPts val="700"/>
              </a:spcAft>
              <a:defRPr sz="1500">
                <a:solidFill>
                  <a:srgbClr val="23272B"/>
                </a:solidFill>
              </a:defRPr>
            </a:pPr>
            <a:r>
              <a:t>• Maximum prediction difference ≈ 10⁻¹²</a:t>
            </a:r>
          </a:p>
          <a:p>
            <a:pPr>
              <a:spcAft>
                <a:spcPts val="700"/>
              </a:spcAft>
              <a:defRPr sz="1500">
                <a:solidFill>
                  <a:srgbClr val="23272B"/>
                </a:solidFill>
              </a:defRPr>
            </a:pPr>
            <a:r>
              <a:t>• Methods produced practically identical results.</a:t>
            </a:r>
          </a:p>
        </p:txBody>
      </p:sp>
      <p:sp>
        <p:nvSpPr>
          <p:cNvPr id="7" name="TextBox 6"/>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10. Conclusion and Contribution</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698480" cy="4480560"/>
          </a:xfrm>
          <a:prstGeom prst="rect">
            <a:avLst/>
          </a:prstGeom>
          <a:noFill/>
        </p:spPr>
        <p:txBody>
          <a:bodyPr wrap="square">
            <a:spAutoFit/>
          </a:bodyPr>
          <a:lstStyle/>
          <a:p>
            <a:pPr>
              <a:spcAft>
                <a:spcPts val="1200"/>
              </a:spcAft>
              <a:defRPr sz="1700">
                <a:solidFill>
                  <a:srgbClr val="23272B"/>
                </a:solidFill>
              </a:defRPr>
            </a:pPr>
            <a:r>
              <a:t>• The matrix formulation provides a rigorous mathematical framework for Multiple Linear Regression.</a:t>
            </a:r>
          </a:p>
          <a:p>
            <a:pPr>
              <a:spcAft>
                <a:spcPts val="1200"/>
              </a:spcAft>
              <a:defRPr sz="1700">
                <a:solidFill>
                  <a:srgbClr val="23272B"/>
                </a:solidFill>
              </a:defRPr>
            </a:pPr>
            <a:r>
              <a:t>• The fitted model achieved strong predictive performance with R² = 0.897 and mean five-fold CV R² = 0.895.</a:t>
            </a:r>
          </a:p>
          <a:p>
            <a:pPr>
              <a:spcAft>
                <a:spcPts val="1200"/>
              </a:spcAft>
              <a:defRPr sz="1700">
                <a:solidFill>
                  <a:srgbClr val="23272B"/>
                </a:solidFill>
              </a:defRPr>
            </a:pPr>
            <a:r>
              <a:t>• Study hours per day was the most influential numerical predictor in the fitted model.</a:t>
            </a:r>
          </a:p>
          <a:p>
            <a:pPr>
              <a:spcAft>
                <a:spcPts val="1200"/>
              </a:spcAft>
              <a:defRPr sz="1700">
                <a:solidFill>
                  <a:srgbClr val="23272B"/>
                </a:solidFill>
              </a:defRPr>
            </a:pPr>
            <a:r>
              <a:t>• Standardization reduced the condition number of X from 1305.59 to 1.71.</a:t>
            </a:r>
          </a:p>
          <a:p>
            <a:pPr>
              <a:spcAft>
                <a:spcPts val="1200"/>
              </a:spcAft>
              <a:defRPr sz="1700">
                <a:solidFill>
                  <a:srgbClr val="23272B"/>
                </a:solidFill>
              </a:defRPr>
            </a:pPr>
            <a:r>
              <a:t>• Perturbation and solver comparisons indicated strong numerical stability for the tested computations.</a:t>
            </a:r>
          </a:p>
          <a:p>
            <a:pPr>
              <a:spcAft>
                <a:spcPts val="1200"/>
              </a:spcAft>
              <a:defRPr sz="1700">
                <a:solidFill>
                  <a:srgbClr val="23272B"/>
                </a:solidFill>
              </a:defRPr>
            </a:pPr>
            <a:r>
              <a:t>• Contribution: an integrated matrix-algebra workflow combining prediction, conditioning, sensitivity, perturbation and numerical verification.</a:t>
            </a:r>
          </a:p>
        </p:txBody>
      </p:sp>
      <p:sp>
        <p:nvSpPr>
          <p:cNvPr id="6" name="TextBox 5"/>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594360"/>
          </a:xfrm>
          <a:prstGeom prst="rect">
            <a:avLst/>
          </a:prstGeom>
          <a:noFill/>
        </p:spPr>
        <p:txBody>
          <a:bodyPr wrap="none">
            <a:spAutoFit/>
          </a:bodyPr>
          <a:lstStyle/>
          <a:p>
            <a:pPr>
              <a:defRPr sz="2700" b="1">
                <a:solidFill>
                  <a:srgbClr val="182B49"/>
                </a:solidFill>
              </a:defRPr>
            </a:pPr>
            <a:r>
              <a:t>11. Recommendations and Future Work</a:t>
            </a:r>
          </a:p>
        </p:txBody>
      </p:sp>
      <p:sp>
        <p:nvSpPr>
          <p:cNvPr id="4" name="Rectangle 3"/>
          <p:cNvSpPr/>
          <p:nvPr/>
        </p:nvSpPr>
        <p:spPr>
          <a:xfrm>
            <a:off x="594360" y="1078992"/>
            <a:ext cx="10972800" cy="32004"/>
          </a:xfrm>
          <a:prstGeom prst="rect">
            <a:avLst/>
          </a:prstGeom>
          <a:solidFill>
            <a:srgbClr val="2B5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10698480" cy="4480560"/>
          </a:xfrm>
          <a:prstGeom prst="rect">
            <a:avLst/>
          </a:prstGeom>
          <a:noFill/>
        </p:spPr>
        <p:txBody>
          <a:bodyPr wrap="square">
            <a:spAutoFit/>
          </a:bodyPr>
          <a:lstStyle/>
          <a:p>
            <a:pPr>
              <a:spcAft>
                <a:spcPts val="1200"/>
              </a:spcAft>
              <a:defRPr sz="1800">
                <a:solidFill>
                  <a:srgbClr val="23272B"/>
                </a:solidFill>
              </a:defRPr>
            </a:pPr>
            <a:r>
              <a:t>• Use larger, real-world educational datasets to improve generalizability.</a:t>
            </a:r>
          </a:p>
          <a:p>
            <a:pPr>
              <a:spcAft>
                <a:spcPts val="1200"/>
              </a:spcAft>
              <a:defRPr sz="1800">
                <a:solidFill>
                  <a:srgbClr val="23272B"/>
                </a:solidFill>
              </a:defRPr>
            </a:pPr>
            <a:r>
              <a:t>• Include additional academic, socioeconomic and institutional variables where available.</a:t>
            </a:r>
          </a:p>
          <a:p>
            <a:pPr>
              <a:spcAft>
                <a:spcPts val="1200"/>
              </a:spcAft>
              <a:defRPr sz="1800">
                <a:solidFill>
                  <a:srgbClr val="23272B"/>
                </a:solidFill>
              </a:defRPr>
            </a:pPr>
            <a:r>
              <a:t>• Compare Multiple Linear Regression with Ridge, Lasso and other machine-learning models.</a:t>
            </a:r>
          </a:p>
          <a:p>
            <a:pPr>
              <a:spcAft>
                <a:spcPts val="1200"/>
              </a:spcAft>
              <a:defRPr sz="1800">
                <a:solidFill>
                  <a:srgbClr val="23272B"/>
                </a:solidFill>
              </a:defRPr>
            </a:pPr>
            <a:r>
              <a:t>• Investigate QR decomposition and Singular Value Decomposition for numerical solution of poorly conditioned systems.</a:t>
            </a:r>
          </a:p>
          <a:p>
            <a:pPr>
              <a:spcAft>
                <a:spcPts val="1200"/>
              </a:spcAft>
              <a:defRPr sz="1800">
                <a:solidFill>
                  <a:srgbClr val="23272B"/>
                </a:solidFill>
              </a:defRPr>
            </a:pPr>
            <a:r>
              <a:t>• Extend the sensitivity analysis to additional datasets and modelling approaches.</a:t>
            </a:r>
          </a:p>
          <a:p>
            <a:pPr>
              <a:spcAft>
                <a:spcPts val="1200"/>
              </a:spcAft>
              <a:defRPr sz="1800">
                <a:solidFill>
                  <a:srgbClr val="23272B"/>
                </a:solidFill>
              </a:defRPr>
            </a:pPr>
            <a:r>
              <a:t>• Use external validation data to assess how well the model generalizes to new student populations.</a:t>
            </a:r>
          </a:p>
        </p:txBody>
      </p:sp>
      <p:sp>
        <p:nvSpPr>
          <p:cNvPr id="6" name="TextBox 5"/>
          <p:cNvSpPr txBox="1"/>
          <p:nvPr/>
        </p:nvSpPr>
        <p:spPr>
          <a:xfrm>
            <a:off x="594360" y="6510528"/>
            <a:ext cx="10972800" cy="228600"/>
          </a:xfrm>
          <a:prstGeom prst="rect">
            <a:avLst/>
          </a:prstGeom>
          <a:noFill/>
        </p:spPr>
        <p:txBody>
          <a:bodyPr wrap="none">
            <a:spAutoFit/>
          </a:bodyPr>
          <a:lstStyle/>
          <a:p>
            <a:pPr algn="r">
              <a:defRPr sz="800">
                <a:solidFill>
                  <a:srgbClr val="697078"/>
                </a:solidFill>
              </a:defRPr>
            </a:pPr>
            <a:r>
              <a:t>Application of Matrix Algebra in Predicting Students' Examination Scores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